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HK Grotesk" charset="1" panose="00000500000000000000"/>
      <p:regular r:id="rId15"/>
    </p:embeddedFont>
    <p:embeddedFont>
      <p:font typeface="Glacial Indifference Bold" charset="1" panose="00000800000000000000"/>
      <p:regular r:id="rId16"/>
    </p:embeddedFont>
    <p:embeddedFont>
      <p:font typeface="HK Grotesk Italics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38336" y="-3273956"/>
            <a:ext cx="9611327" cy="13560956"/>
          </a:xfrm>
          <a:custGeom>
            <a:avLst/>
            <a:gdLst/>
            <a:ahLst/>
            <a:cxnLst/>
            <a:rect r="r" b="b" t="t" l="l"/>
            <a:pathLst>
              <a:path h="13560956" w="9611327">
                <a:moveTo>
                  <a:pt x="0" y="0"/>
                </a:moveTo>
                <a:lnTo>
                  <a:pt x="9611328" y="0"/>
                </a:lnTo>
                <a:lnTo>
                  <a:pt x="9611328" y="13560956"/>
                </a:lnTo>
                <a:lnTo>
                  <a:pt x="0" y="13560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243404" y="6414887"/>
            <a:ext cx="7801192" cy="561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0"/>
              </a:lnSpc>
            </a:pPr>
            <a:r>
              <a:rPr lang="en-US" sz="326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Author: Rayan Tanzeem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28352" y="2352539"/>
            <a:ext cx="13831295" cy="3370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27"/>
              </a:lnSpc>
            </a:pPr>
            <a:r>
              <a:rPr lang="en-US" b="true" sz="7812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HUMAN-IN-THE-LOOP </a:t>
            </a:r>
            <a:r>
              <a:rPr lang="en-US" b="true" sz="7812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ANOMALY DETECTION FOR AI 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113643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910400"/>
            <a:ext cx="9530043" cy="308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</a:t>
            </a: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OJECT OVERVIEW</a:t>
            </a:r>
          </a:p>
          <a:p>
            <a:pPr algn="l" marL="1535954" indent="-767977" lvl="1">
              <a:lnSpc>
                <a:spcPts val="8039"/>
              </a:lnSpc>
              <a:buFont typeface="Arial"/>
              <a:buChar char="•"/>
            </a:pPr>
          </a:p>
          <a:p>
            <a:pPr algn="l">
              <a:lnSpc>
                <a:spcPts val="803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280023"/>
            <a:ext cx="7899970" cy="4706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9605" indent="-319803" lvl="1">
              <a:lnSpc>
                <a:spcPts val="4147"/>
              </a:lnSpc>
              <a:buFont typeface="Arial"/>
              <a:buChar char="•"/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Human-in-the-Loop Anomaly Detection for AI Responses</a:t>
            </a:r>
          </a:p>
          <a:p>
            <a:pPr algn="l" marL="639605" indent="-319803" lvl="1">
              <a:lnSpc>
                <a:spcPts val="4147"/>
              </a:lnSpc>
              <a:buFont typeface="Arial"/>
              <a:buChar char="•"/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Focus: deciding when human review is required, not judging AI with more AI</a:t>
            </a:r>
          </a:p>
          <a:p>
            <a:pPr algn="l" marL="639605" indent="-319803" lvl="1">
              <a:lnSpc>
                <a:spcPts val="4147"/>
              </a:lnSpc>
              <a:buFont typeface="Arial"/>
              <a:buChar char="•"/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Implemented as a REST API with a lightweight UI</a:t>
            </a:r>
          </a:p>
          <a:p>
            <a:pPr algn="l" marL="639605" indent="-319803" lvl="1">
              <a:lnSpc>
                <a:spcPts val="4147"/>
              </a:lnSpc>
              <a:buFont typeface="Arial"/>
              <a:buChar char="•"/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Emphasis on control, explainability, and trust</a:t>
            </a:r>
          </a:p>
          <a:p>
            <a:pPr algn="l">
              <a:lnSpc>
                <a:spcPts val="4147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113643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910400"/>
            <a:ext cx="9530043" cy="206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</a:t>
            </a: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OBLEM STATEMENT</a:t>
            </a:r>
          </a:p>
          <a:p>
            <a:pPr algn="l">
              <a:lnSpc>
                <a:spcPts val="803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280023"/>
            <a:ext cx="7899970" cy="4706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9605" indent="-319803" lvl="1">
              <a:lnSpc>
                <a:spcPts val="4147"/>
              </a:lnSpc>
              <a:buFont typeface="Arial"/>
              <a:buChar char="•"/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AI systems can hallucinate, give unsafe advice, or violate policies</a:t>
            </a:r>
          </a:p>
          <a:p>
            <a:pPr algn="l" marL="639605" indent="-319803" lvl="1">
              <a:lnSpc>
                <a:spcPts val="4147"/>
              </a:lnSpc>
              <a:buFont typeface="Arial"/>
              <a:buChar char="•"/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Manual review of every AI response does not scale</a:t>
            </a:r>
          </a:p>
          <a:p>
            <a:pPr algn="l" marL="639605" indent="-319803" lvl="1">
              <a:lnSpc>
                <a:spcPts val="4147"/>
              </a:lnSpc>
              <a:buFont typeface="Arial"/>
              <a:buChar char="•"/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Fully automated moderation lacks accountability</a:t>
            </a:r>
          </a:p>
          <a:p>
            <a:pPr algn="l" marL="639605" indent="-319803" lvl="1">
              <a:lnSpc>
                <a:spcPts val="4147"/>
              </a:lnSpc>
              <a:buFont typeface="Arial"/>
              <a:buChar char="•"/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Need a system to selectively involve humans in risky cases</a:t>
            </a:r>
          </a:p>
          <a:p>
            <a:pPr algn="l">
              <a:lnSpc>
                <a:spcPts val="4147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113643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910400"/>
            <a:ext cx="13267055" cy="308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AN</a:t>
            </a: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OMALY DETECTION LOGIC</a:t>
            </a:r>
          </a:p>
          <a:p>
            <a:pPr algn="l" marL="1535954" indent="-767977" lvl="1">
              <a:lnSpc>
                <a:spcPts val="8039"/>
              </a:lnSpc>
              <a:buFont typeface="Arial"/>
              <a:buChar char="•"/>
            </a:pPr>
          </a:p>
          <a:p>
            <a:pPr algn="l">
              <a:lnSpc>
                <a:spcPts val="803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280023"/>
            <a:ext cx="7899970" cy="5230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9605" indent="-319803" lvl="1">
              <a:lnSpc>
                <a:spcPts val="4147"/>
              </a:lnSpc>
              <a:buFont typeface="Arial"/>
              <a:buChar char="•"/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AI generates response normally</a:t>
            </a:r>
          </a:p>
          <a:p>
            <a:pPr algn="l" marL="639605" indent="-319803" lvl="1">
              <a:lnSpc>
                <a:spcPts val="4147"/>
              </a:lnSpc>
              <a:buFont typeface="Arial"/>
              <a:buChar char="•"/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System infers intent (e.g. general, medical, future event)</a:t>
            </a:r>
          </a:p>
          <a:p>
            <a:pPr algn="l" marL="639605" indent="-319803" lvl="1">
              <a:lnSpc>
                <a:spcPts val="4147"/>
              </a:lnSpc>
              <a:buFont typeface="Arial"/>
              <a:buChar char="•"/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Explicit risk signals are detected (rule-based)</a:t>
            </a:r>
          </a:p>
          <a:p>
            <a:pPr algn="l" marL="639605" indent="-319803" lvl="1">
              <a:lnSpc>
                <a:spcPts val="4147"/>
              </a:lnSpc>
              <a:buFont typeface="Arial"/>
              <a:buChar char="•"/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future claims</a:t>
            </a:r>
          </a:p>
          <a:p>
            <a:pPr algn="l" marL="639605" indent="-319803" lvl="1">
              <a:lnSpc>
                <a:spcPts val="4147"/>
              </a:lnSpc>
              <a:buFont typeface="Arial"/>
              <a:buChar char="•"/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medica</a:t>
            </a: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 domain</a:t>
            </a:r>
          </a:p>
          <a:p>
            <a:pPr algn="l" marL="639605" indent="-319803" lvl="1">
              <a:lnSpc>
                <a:spcPts val="4147"/>
              </a:lnSpc>
              <a:buFont typeface="Arial"/>
              <a:buChar char="•"/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missing disclaimers</a:t>
            </a:r>
          </a:p>
          <a:p>
            <a:pPr algn="l" marL="639605" indent="-319803" lvl="1">
              <a:lnSpc>
                <a:spcPts val="4147"/>
              </a:lnSpc>
              <a:buFont typeface="Arial"/>
              <a:buChar char="•"/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Signals are weighted and compared against policy thresholds</a:t>
            </a:r>
          </a:p>
          <a:p>
            <a:pPr algn="l">
              <a:lnSpc>
                <a:spcPts val="4147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113643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910400"/>
            <a:ext cx="13267055" cy="10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RESULTS &amp; I</a:t>
            </a: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MPACT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280023"/>
            <a:ext cx="7899970" cy="4182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9605" indent="-319803" lvl="1">
              <a:lnSpc>
                <a:spcPts val="4147"/>
              </a:lnSpc>
              <a:buFont typeface="Arial"/>
              <a:buChar char="•"/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Demonstrates scalable Human-in-the-Loop control</a:t>
            </a:r>
          </a:p>
          <a:p>
            <a:pPr algn="l" marL="639605" indent="-319803" lvl="1">
              <a:lnSpc>
                <a:spcPts val="4147"/>
              </a:lnSpc>
              <a:buFont typeface="Arial"/>
              <a:buChar char="•"/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Most safe queries are auto-approved</a:t>
            </a:r>
          </a:p>
          <a:p>
            <a:pPr algn="l" marL="639605" indent="-319803" lvl="1">
              <a:lnSpc>
                <a:spcPts val="4147"/>
              </a:lnSpc>
              <a:buFont typeface="Arial"/>
              <a:buChar char="•"/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Only high-risk outputs are escalated</a:t>
            </a:r>
          </a:p>
          <a:p>
            <a:pPr algn="l" marL="639605" indent="-319803" lvl="1">
              <a:lnSpc>
                <a:spcPts val="4147"/>
              </a:lnSpc>
              <a:buFont typeface="Arial"/>
              <a:buChar char="•"/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Decisions a</a:t>
            </a: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 explain</a:t>
            </a: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ab</a:t>
            </a: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le and auditable</a:t>
            </a:r>
          </a:p>
          <a:p>
            <a:pPr algn="l" marL="639605" indent="-319803" lvl="1">
              <a:lnSpc>
                <a:spcPts val="4147"/>
              </a:lnSpc>
              <a:buFont typeface="Arial"/>
              <a:buChar char="•"/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Cle</a:t>
            </a: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ar separation between AI generation and governance</a:t>
            </a:r>
          </a:p>
          <a:p>
            <a:pPr algn="l">
              <a:lnSpc>
                <a:spcPts val="4147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113643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910400"/>
            <a:ext cx="13267055" cy="308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CHALLENGES F</a:t>
            </a: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ACED</a:t>
            </a:r>
          </a:p>
          <a:p>
            <a:pPr algn="l" marL="1535954" indent="-767977" lvl="1">
              <a:lnSpc>
                <a:spcPts val="8039"/>
              </a:lnSpc>
              <a:buFont typeface="Arial"/>
              <a:buChar char="•"/>
            </a:pPr>
          </a:p>
          <a:p>
            <a:pPr algn="l">
              <a:lnSpc>
                <a:spcPts val="803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280023"/>
            <a:ext cx="7899970" cy="4182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9605" indent="-319803" lvl="1">
              <a:lnSpc>
                <a:spcPts val="4147"/>
              </a:lnSpc>
              <a:buFont typeface="Arial"/>
              <a:buChar char="•"/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Avoiding “AI judging AI” anti-pattern</a:t>
            </a:r>
          </a:p>
          <a:p>
            <a:pPr algn="l" marL="639605" indent="-319803" lvl="1">
              <a:lnSpc>
                <a:spcPts val="4147"/>
              </a:lnSpc>
              <a:buFont typeface="Arial"/>
              <a:buChar char="•"/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Designing escalation logic without overengineering</a:t>
            </a:r>
          </a:p>
          <a:p>
            <a:pPr algn="l" marL="639605" indent="-319803" lvl="1">
              <a:lnSpc>
                <a:spcPts val="4147"/>
              </a:lnSpc>
              <a:buFont typeface="Arial"/>
              <a:buChar char="•"/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Balan</a:t>
            </a: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cing simplicity with</a:t>
            </a: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meaningful safety signals</a:t>
            </a:r>
          </a:p>
          <a:p>
            <a:pPr algn="l" marL="639605" indent="-319803" lvl="1">
              <a:lnSpc>
                <a:spcPts val="4147"/>
              </a:lnSpc>
              <a:buFont typeface="Arial"/>
              <a:buChar char="•"/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Ke</a:t>
            </a: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eping</a:t>
            </a: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policy logic transparent and judge-explainable</a:t>
            </a:r>
          </a:p>
          <a:p>
            <a:pPr algn="l">
              <a:lnSpc>
                <a:spcPts val="4147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113643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910400"/>
            <a:ext cx="13267055" cy="10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FUTURE WORK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280023"/>
            <a:ext cx="7899970" cy="4706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9605" indent="-319803" lvl="1">
              <a:lnSpc>
                <a:spcPts val="4147"/>
              </a:lnSpc>
              <a:buFont typeface="Arial"/>
              <a:buChar char="•"/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Automate policy updates using accumulated human feedback</a:t>
            </a:r>
          </a:p>
          <a:p>
            <a:pPr algn="l" marL="639605" indent="-319803" lvl="1">
              <a:lnSpc>
                <a:spcPts val="4147"/>
              </a:lnSpc>
              <a:buFont typeface="Arial"/>
              <a:buChar char="•"/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Active learning to refine signal thresholds</a:t>
            </a:r>
          </a:p>
          <a:p>
            <a:pPr algn="l" marL="639605" indent="-319803" lvl="1">
              <a:lnSpc>
                <a:spcPts val="4147"/>
              </a:lnSpc>
              <a:buFont typeface="Arial"/>
              <a:buChar char="•"/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Vector search for identify</a:t>
            </a: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ing similar past reviewed</a:t>
            </a: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cases</a:t>
            </a:r>
          </a:p>
          <a:p>
            <a:pPr algn="l" marL="639605" indent="-319803" lvl="1">
              <a:lnSpc>
                <a:spcPts val="4147"/>
              </a:lnSpc>
              <a:buFont typeface="Arial"/>
              <a:buChar char="•"/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Role-based admin dashboard for reviewers</a:t>
            </a:r>
          </a:p>
          <a:p>
            <a:pPr algn="l" marL="639605" indent="-319803" lvl="1">
              <a:lnSpc>
                <a:spcPts val="4147"/>
              </a:lnSpc>
              <a:buFont typeface="Arial"/>
              <a:buChar char="•"/>
            </a:pP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Offline fin</a:t>
            </a: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e-tuning</a:t>
            </a:r>
            <a:r>
              <a:rPr lang="en-US" sz="296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or reward modeling (out of hackathon scope)</a:t>
            </a:r>
          </a:p>
          <a:p>
            <a:pPr algn="l">
              <a:lnSpc>
                <a:spcPts val="4147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113643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32750" y="3198307"/>
            <a:ext cx="13422501" cy="5352222"/>
          </a:xfrm>
          <a:custGeom>
            <a:avLst/>
            <a:gdLst/>
            <a:ahLst/>
            <a:cxnLst/>
            <a:rect r="r" b="b" t="t" l="l"/>
            <a:pathLst>
              <a:path h="5352222" w="13422501">
                <a:moveTo>
                  <a:pt x="0" y="0"/>
                </a:moveTo>
                <a:lnTo>
                  <a:pt x="13422500" y="0"/>
                </a:lnTo>
                <a:lnTo>
                  <a:pt x="13422500" y="5352222"/>
                </a:lnTo>
                <a:lnTo>
                  <a:pt x="0" y="53522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66800"/>
            <a:ext cx="13267055" cy="10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</a:t>
            </a: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ETHODOLOGY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38336" y="-3273956"/>
            <a:ext cx="9611327" cy="13560956"/>
          </a:xfrm>
          <a:custGeom>
            <a:avLst/>
            <a:gdLst/>
            <a:ahLst/>
            <a:cxnLst/>
            <a:rect r="r" b="b" t="t" l="l"/>
            <a:pathLst>
              <a:path h="13560956" w="9611327">
                <a:moveTo>
                  <a:pt x="0" y="0"/>
                </a:moveTo>
                <a:lnTo>
                  <a:pt x="9611328" y="0"/>
                </a:lnTo>
                <a:lnTo>
                  <a:pt x="9611328" y="13560956"/>
                </a:lnTo>
                <a:lnTo>
                  <a:pt x="0" y="13560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243404" y="5626628"/>
            <a:ext cx="7801192" cy="555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0"/>
              </a:lnSpc>
            </a:pPr>
            <a:r>
              <a:rPr lang="en-US" sz="326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FOR YOUR ATTENTION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16061" y="8734425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Author: Rayan Tanzeem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651632" y="4171798"/>
            <a:ext cx="8984736" cy="1451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7"/>
              </a:lnSpc>
            </a:pPr>
            <a:r>
              <a:rPr lang="en-US" b="true" sz="10006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DAG_rWwTzw4</dc:identifier>
  <dcterms:modified xsi:type="dcterms:W3CDTF">2011-08-01T06:04:30Z</dcterms:modified>
  <cp:revision>1</cp:revision>
  <dc:title>Human-in-the-Loop Anomaly Detection for AI System Misbehavior</dc:title>
</cp:coreProperties>
</file>